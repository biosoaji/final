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27"/>
    <p:restoredTop sz="94658"/>
  </p:normalViewPr>
  <p:slideViewPr>
    <p:cSldViewPr snapToGrid="0">
      <p:cViewPr varScale="1">
        <p:scale>
          <a:sx n="120" d="100"/>
          <a:sy n="120" d="100"/>
        </p:scale>
        <p:origin x="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74EE-4709-9A6F-FE24-EB98A1FED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A1161B-919F-17A5-10CE-A4D39973E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70C03-38E3-C0EA-9ECA-A0932E343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F995D-E8D4-1E62-F4BA-606D3D96C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48CA9-7CD7-0861-C494-102FD4786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40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5E3EF-0E89-63F0-8105-7C24C5E29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9119F-B180-D011-E060-36E180E00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DB6FB-57C1-D4CB-0E58-460143E61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F0CFD-7479-50DA-FB4E-FDF62B98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6B034-5AFF-7BE5-6106-270A43BC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4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7E3A4-8BB5-6A7C-6BA7-29E782F0B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E5CC0-10E1-682D-BF12-82E0EE6D1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5F169-CFD9-6DCA-046E-A66C457B9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B190F-F175-6CE2-B6D2-BC9F6C9EE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1A97F-C3C3-B14E-292A-0A57BE203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79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17D31-2736-0085-D334-B9B30E47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210B8-338C-6D32-395C-0D40819CB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7E345-04DC-B7AB-E8B9-001E31904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6149C-40B2-11B0-23D1-F02185A01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45B7A-AE75-72B1-D5EA-BC981238F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DEA20-3997-3F04-F1B7-3BE78431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7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4694E-6CF8-A880-7B01-88E510E62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0EBE1-18AD-E431-6347-E6ED8703E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DD4B75-35F7-4A02-DA3F-C66444D1E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D78DE9-67E7-81F1-D8D8-34878E6F5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380B0-4F38-FE00-8D83-8071C79EB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BF4C5-0DF6-68EF-5E3B-9A25F71F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BBECA0-C7EC-9C1F-2CFE-A1AFC0F8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E18920-0CA0-A217-C3EF-9450D526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0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5943-63D5-1AA0-7DD7-E53742ED9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18B98F-B841-9BEF-EC9A-99E627173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57AD5-4A53-1A90-B8DE-8E79F2545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ED171-9A7B-A8FB-47BF-D52AE805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84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5C50A-4F44-7D98-3C60-DB3E2E58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A698A-3DD9-F21E-D3D7-B6F814A0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68540-22BC-9DBB-9409-B793023C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80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5C51-276B-23EA-1C02-1FD78FD9E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EAF4A-9A7A-0173-DF6A-6948AB411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7E7B4-C8A8-E973-FB47-0750DC2A7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41CA7-F0F8-97C2-4D56-C675033D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DC7F5-2761-D91F-7135-166A548FD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CA7B6-F849-4E9E-71C5-AA5C6AC64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72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C454-4F0A-C5A4-7F86-931BE1F4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4843E-0E1B-2B53-1F2C-A9ACE3934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54379-B190-0BA7-6291-861EDC0C4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11277-6853-B740-ED20-F8F0876F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A1706B-8BE1-70A0-1750-6C02EA04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9EC03-3E10-614E-6D37-481BFB86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3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DE5A8-0939-DA24-DA56-09995ACF7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A83D18-8532-4593-2C0D-CB379EC54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EB2CF-7F65-D519-DE38-670883A8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94FC1-FF87-CCA4-0D7D-032B4024E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44FAE-C381-2244-4893-5BD30382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6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B0D9E2-2E73-F630-3254-4D68DA0A8D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03CC1D-D457-387C-266A-A309EF98C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FD36C-02D3-7015-E94C-5733CDC5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FA647-6EA4-569C-133E-DD8762C4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BD902-55B1-3014-760F-7E26EC71F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65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80369-A80D-897F-0664-E2894F57D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9493E-5C59-B66E-BEC7-7DD529605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A00F8-B55F-3AE6-0905-DC421B50CB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326EED-DE85-F949-8D15-2CC52D1923D1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0DAD-472B-B066-01AE-8591C18EA4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FBA22-53F1-52E7-BD4C-6011574604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E7739-88B6-5B41-9CB1-8A50EC379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84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Category:Topographic_maps_of_the_United_States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Brain in head outline">
            <a:extLst>
              <a:ext uri="{FF2B5EF4-FFF2-40B4-BE49-F238E27FC236}">
                <a16:creationId xmlns:a16="http://schemas.microsoft.com/office/drawing/2014/main" id="{4779F29A-0987-DAD3-E862-E0B9BC81C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2659" y="3573162"/>
            <a:ext cx="1276865" cy="1276865"/>
          </a:xfrm>
          <a:prstGeom prst="rect">
            <a:avLst/>
          </a:prstGeom>
        </p:spPr>
      </p:pic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BAF27F17-5BC6-ABA6-9903-93889E1757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2983" y="2975918"/>
            <a:ext cx="453082" cy="453082"/>
          </a:xfrm>
          <a:prstGeom prst="rect">
            <a:avLst/>
          </a:prstGeom>
        </p:spPr>
      </p:pic>
      <p:pic>
        <p:nvPicPr>
          <p:cNvPr id="9" name="Graphic 8" descr="Thought bubble outline">
            <a:extLst>
              <a:ext uri="{FF2B5EF4-FFF2-40B4-BE49-F238E27FC236}">
                <a16:creationId xmlns:a16="http://schemas.microsoft.com/office/drawing/2014/main" id="{80850A2F-9061-41D5-C23D-16B8E9EFF9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6696" y="2737021"/>
            <a:ext cx="1165656" cy="116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859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united states&#10;&#10;AI-generated content may be incorrect.">
            <a:extLst>
              <a:ext uri="{FF2B5EF4-FFF2-40B4-BE49-F238E27FC236}">
                <a16:creationId xmlns:a16="http://schemas.microsoft.com/office/drawing/2014/main" id="{40F9A7C1-9D8A-D145-CE40-7C8E852CB4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4" t="14194" r="2200" b="260"/>
          <a:stretch>
            <a:fillRect/>
          </a:stretch>
        </p:blipFill>
        <p:spPr>
          <a:xfrm>
            <a:off x="577449" y="1562221"/>
            <a:ext cx="5639105" cy="4075766"/>
          </a:xfrm>
          <a:prstGeom prst="rect">
            <a:avLst/>
          </a:prstGeom>
        </p:spPr>
      </p:pic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8CBE4AEC-4ED6-CD65-2850-2662BAB47B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" t="13560" r="2402" b="598"/>
          <a:stretch>
            <a:fillRect/>
          </a:stretch>
        </p:blipFill>
        <p:spPr>
          <a:xfrm>
            <a:off x="6275156" y="1570533"/>
            <a:ext cx="5639105" cy="40475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7A46F8-D6EE-FF0F-64A6-7BA40CDC140C}"/>
              </a:ext>
            </a:extLst>
          </p:cNvPr>
          <p:cNvSpPr txBox="1"/>
          <p:nvPr/>
        </p:nvSpPr>
        <p:spPr>
          <a:xfrm>
            <a:off x="1130530" y="473528"/>
            <a:ext cx="413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Prevalence of Alzheimer’s dementia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68741-8688-E2F4-D718-1E609BC4E48B}"/>
              </a:ext>
            </a:extLst>
          </p:cNvPr>
          <p:cNvSpPr txBox="1"/>
          <p:nvPr/>
        </p:nvSpPr>
        <p:spPr>
          <a:xfrm>
            <a:off x="1130530" y="959536"/>
            <a:ext cx="413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(a) States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7E454F-89F9-28D2-6C57-57B73AC24CBC}"/>
              </a:ext>
            </a:extLst>
          </p:cNvPr>
          <p:cNvSpPr txBox="1"/>
          <p:nvPr/>
        </p:nvSpPr>
        <p:spPr>
          <a:xfrm>
            <a:off x="6930047" y="959536"/>
            <a:ext cx="413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(b) Counties</a:t>
            </a:r>
          </a:p>
        </p:txBody>
      </p:sp>
    </p:spTree>
    <p:extLst>
      <p:ext uri="{BB962C8B-B14F-4D97-AF65-F5344CB8AC3E}">
        <p14:creationId xmlns:p14="http://schemas.microsoft.com/office/powerpoint/2010/main" val="73372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p of the united states&#10;&#10;AI-generated content may be incorrect.">
            <a:extLst>
              <a:ext uri="{FF2B5EF4-FFF2-40B4-BE49-F238E27FC236}">
                <a16:creationId xmlns:a16="http://schemas.microsoft.com/office/drawing/2014/main" id="{FE90B1D6-0969-FEC8-B15E-8597838AD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746" y="262252"/>
            <a:ext cx="4894973" cy="29057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1780D0-478D-EC13-B661-8DD8D4F7991E}"/>
              </a:ext>
            </a:extLst>
          </p:cNvPr>
          <p:cNvSpPr txBox="1"/>
          <p:nvPr/>
        </p:nvSpPr>
        <p:spPr>
          <a:xfrm>
            <a:off x="6298746" y="3613666"/>
            <a:ext cx="4670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1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Category:Topographic maps of the United States"/>
              </a:rPr>
              <a:t>Topographic map of the United States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179C0-89B5-4454-46F0-56F167F115F4}"/>
              </a:ext>
            </a:extLst>
          </p:cNvPr>
          <p:cNvSpPr txBox="1"/>
          <p:nvPr/>
        </p:nvSpPr>
        <p:spPr>
          <a:xfrm>
            <a:off x="6298746" y="3982998"/>
            <a:ext cx="467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Geography_of_the_United_States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01AF4-C665-9457-3803-EF6A5C36644C}"/>
              </a:ext>
            </a:extLst>
          </p:cNvPr>
          <p:cNvSpPr txBox="1"/>
          <p:nvPr/>
        </p:nvSpPr>
        <p:spPr>
          <a:xfrm>
            <a:off x="675871" y="3689989"/>
            <a:ext cx="46740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By Crossover1370 - Own work, derived from </a:t>
            </a:r>
            <a:r>
              <a:rPr lang="en-US" dirty="0" err="1"/>
              <a:t>File:Blank</a:t>
            </a:r>
            <a:r>
              <a:rPr lang="en-US" dirty="0"/>
              <a:t> US Map (states only).</a:t>
            </a:r>
            <a:r>
              <a:rPr lang="en-US" dirty="0" err="1"/>
              <a:t>svg</a:t>
            </a:r>
            <a:r>
              <a:rPr lang="en-US" dirty="0"/>
              <a:t>. Data sourced from Statista., CC BY-SA 4.0, https://</a:t>
            </a:r>
            <a:r>
              <a:rPr lang="en-US" dirty="0" err="1"/>
              <a:t>commons.wikimedia.org</a:t>
            </a:r>
            <a:r>
              <a:rPr lang="en-US" dirty="0"/>
              <a:t>/w/</a:t>
            </a:r>
            <a:r>
              <a:rPr lang="en-US" dirty="0" err="1"/>
              <a:t>index.php?curid</a:t>
            </a:r>
            <a:r>
              <a:rPr lang="en-US" dirty="0"/>
              <a:t>=122689931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422D735-408D-4EC8-082D-B86D9A5E3F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002" y="226987"/>
            <a:ext cx="4819711" cy="2976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3DB430-8BC1-F7EE-B71F-984D8E5E2977}"/>
              </a:ext>
            </a:extLst>
          </p:cNvPr>
          <p:cNvSpPr txBox="1"/>
          <p:nvPr/>
        </p:nvSpPr>
        <p:spPr>
          <a:xfrm>
            <a:off x="6298746" y="4629329"/>
            <a:ext cx="3520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CC BY-SA 3.0, https://</a:t>
            </a:r>
            <a:r>
              <a:rPr lang="en-US" dirty="0" err="1"/>
              <a:t>commons.wikimedia.org</a:t>
            </a:r>
            <a:r>
              <a:rPr lang="en-US" dirty="0"/>
              <a:t>/w/</a:t>
            </a:r>
            <a:r>
              <a:rPr lang="en-US" dirty="0" err="1"/>
              <a:t>index.php?curid</a:t>
            </a:r>
            <a:r>
              <a:rPr lang="en-US" dirty="0"/>
              <a:t>=1337120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D46FFF-2A6A-963D-0A85-D05D9FC57E6E}"/>
              </a:ext>
            </a:extLst>
          </p:cNvPr>
          <p:cNvSpPr txBox="1"/>
          <p:nvPr/>
        </p:nvSpPr>
        <p:spPr>
          <a:xfrm>
            <a:off x="6370320" y="5641938"/>
            <a:ext cx="416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01418"/>
                </a:solidFill>
                <a:latin typeface="Linux Libertine"/>
              </a:rPr>
              <a:t>https://</a:t>
            </a:r>
            <a:r>
              <a:rPr lang="en-US" dirty="0" err="1">
                <a:solidFill>
                  <a:srgbClr val="101418"/>
                </a:solidFill>
                <a:latin typeface="Linux Libertine"/>
              </a:rPr>
              <a:t>simple.wikipedia.org</a:t>
            </a:r>
            <a:r>
              <a:rPr lang="en-US" dirty="0">
                <a:solidFill>
                  <a:srgbClr val="101418"/>
                </a:solidFill>
                <a:latin typeface="Linux Libertine"/>
              </a:rPr>
              <a:t>/wiki/List_of_U.S._</a:t>
            </a:r>
            <a:r>
              <a:rPr lang="en-US" dirty="0" err="1">
                <a:solidFill>
                  <a:srgbClr val="101418"/>
                </a:solidFill>
                <a:latin typeface="Linux Libertine"/>
              </a:rPr>
              <a:t>states_by_elevation</a:t>
            </a:r>
            <a:endParaRPr lang="en-US" b="0" i="0" dirty="0">
              <a:solidFill>
                <a:srgbClr val="101418"/>
              </a:solidFill>
              <a:effectLst/>
              <a:latin typeface="Linux Libertine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150CFD-213A-94A9-8B5F-A136A45882C7}"/>
              </a:ext>
            </a:extLst>
          </p:cNvPr>
          <p:cNvSpPr txBox="1"/>
          <p:nvPr/>
        </p:nvSpPr>
        <p:spPr>
          <a:xfrm>
            <a:off x="918002" y="5364939"/>
            <a:ext cx="4003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en.wikipedia.org</a:t>
            </a:r>
            <a:r>
              <a:rPr lang="en-US" dirty="0"/>
              <a:t>/wiki/List_of_U.S._</a:t>
            </a:r>
            <a:r>
              <a:rPr lang="en-US" dirty="0" err="1"/>
              <a:t>states_and_territories_by_elevation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731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2996</TotalTime>
  <Words>155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Linux Libertine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So, Minyoung</dc:creator>
  <cp:lastModifiedBy>So, Minyoung</cp:lastModifiedBy>
  <cp:revision>3</cp:revision>
  <dcterms:created xsi:type="dcterms:W3CDTF">2026-04-11T13:11:23Z</dcterms:created>
  <dcterms:modified xsi:type="dcterms:W3CDTF">2026-04-16T22:23:25Z</dcterms:modified>
</cp:coreProperties>
</file>